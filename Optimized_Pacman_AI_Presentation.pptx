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e2acd3a1243c9" /><Relationship Type="http://schemas.openxmlformats.org/officeDocument/2006/relationships/extended-properties" Target="/docProps/app.xml" Id="R086fb6fae7f44a89" /><Relationship Type="http://schemas.openxmlformats.org/officeDocument/2006/relationships/officeDocument" Target="/ppt/presentation.xml" Id="R69d36e9741c644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9380be1e8e4518"/>
  </p:sldMasterIdLst>
  <p:notesMasterIdLst>
    <p:notesMasterId xmlns:r="http://schemas.openxmlformats.org/officeDocument/2006/relationships" r:id="Re4f2f8e613bf4346"/>
  </p:notesMasterIdLst>
  <p:sldIdLst>
    <p:sldId xmlns:r="http://schemas.openxmlformats.org/officeDocument/2006/relationships" id="256" r:id="R5193c4ade32840f5"/>
    <p:sldId xmlns:r="http://schemas.openxmlformats.org/officeDocument/2006/relationships" id="257" r:id="R432a690da49644d1"/>
    <p:sldId xmlns:r="http://schemas.openxmlformats.org/officeDocument/2006/relationships" id="258" r:id="R0b7482f4ee034469"/>
    <p:sldId xmlns:r="http://schemas.openxmlformats.org/officeDocument/2006/relationships" id="259" r:id="R0024606c4deb4a59"/>
    <p:sldId xmlns:r="http://schemas.openxmlformats.org/officeDocument/2006/relationships" id="260" r:id="R68cfbc4412064cbd"/>
    <p:sldId xmlns:r="http://schemas.openxmlformats.org/officeDocument/2006/relationships" id="261" r:id="Rfb01ff18ad4f4634"/>
    <p:sldId xmlns:r="http://schemas.openxmlformats.org/officeDocument/2006/relationships" id="262" r:id="R253777150f4e4a42"/>
    <p:sldId xmlns:r="http://schemas.openxmlformats.org/officeDocument/2006/relationships" id="263" r:id="Rdc8d6c84a87a45f8"/>
    <p:sldId xmlns:r="http://schemas.openxmlformats.org/officeDocument/2006/relationships" id="264" r:id="R409c54fcf4274bf6"/>
    <p:sldId xmlns:r="http://schemas.openxmlformats.org/officeDocument/2006/relationships" id="265" r:id="R51f57e6b208e47ee"/>
    <p:sldId xmlns:r="http://schemas.openxmlformats.org/officeDocument/2006/relationships" id="266" r:id="R8989e4d41c9245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5aff055f8460d" /><Relationship Type="http://schemas.openxmlformats.org/officeDocument/2006/relationships/slideMaster" Target="/ppt/slideMasters/slideMaster1.xml" Id="R899380be1e8e4518" /><Relationship Type="http://schemas.openxmlformats.org/officeDocument/2006/relationships/notesMaster" Target="/ppt/notesMasters/notesMaster1.xml" Id="Re4f2f8e613bf4346" /><Relationship Type="http://schemas.openxmlformats.org/officeDocument/2006/relationships/presProps" Target="/ppt/presProps.xml" Id="Rd33a18031839419b" /><Relationship Type="http://schemas.openxmlformats.org/officeDocument/2006/relationships/tableStyles" Target="/ppt/tableStyles.xml" Id="R125c4ba80f8642b8" /><Relationship Type="http://schemas.openxmlformats.org/officeDocument/2006/relationships/slide" Target="/ppt/slides/slide1.xml" Id="R5193c4ade32840f5" /><Relationship Type="http://schemas.openxmlformats.org/officeDocument/2006/relationships/slide" Target="/ppt/slides/slide2.xml" Id="R432a690da49644d1" /><Relationship Type="http://schemas.openxmlformats.org/officeDocument/2006/relationships/slide" Target="/ppt/slides/slide3.xml" Id="R0b7482f4ee034469" /><Relationship Type="http://schemas.openxmlformats.org/officeDocument/2006/relationships/slide" Target="/ppt/slides/slide4.xml" Id="R0024606c4deb4a59" /><Relationship Type="http://schemas.openxmlformats.org/officeDocument/2006/relationships/slide" Target="/ppt/slides/slide5.xml" Id="R68cfbc4412064cbd" /><Relationship Type="http://schemas.openxmlformats.org/officeDocument/2006/relationships/slide" Target="/ppt/slides/slide6.xml" Id="Rfb01ff18ad4f4634" /><Relationship Type="http://schemas.openxmlformats.org/officeDocument/2006/relationships/slide" Target="/ppt/slides/slide7.xml" Id="R253777150f4e4a42" /><Relationship Type="http://schemas.openxmlformats.org/officeDocument/2006/relationships/slide" Target="/ppt/slides/slide8.xml" Id="Rdc8d6c84a87a45f8" /><Relationship Type="http://schemas.openxmlformats.org/officeDocument/2006/relationships/slide" Target="/ppt/slides/slide9.xml" Id="R409c54fcf4274bf6" /><Relationship Type="http://schemas.openxmlformats.org/officeDocument/2006/relationships/slide" Target="/ppt/slides/slide10.xml" Id="R51f57e6b208e47ee" /><Relationship Type="http://schemas.openxmlformats.org/officeDocument/2006/relationships/slide" Target="/ppt/slides/slide11.xml" Id="R8989e4d41c9245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d84bd87f0d40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168fa60c4d45c3" /><Relationship Type="http://schemas.openxmlformats.org/officeDocument/2006/relationships/notesMaster" Target="/ppt/notesMasters/notesMaster1.xml" Id="Reec75825c80c49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a72f115e5457e" /><Relationship Type="http://schemas.openxmlformats.org/officeDocument/2006/relationships/notesMaster" Target="/ppt/notesMasters/notesMaster1.xml" Id="R83a8a71b7dd9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1d1a930d884e6e" /><Relationship Type="http://schemas.openxmlformats.org/officeDocument/2006/relationships/notesMaster" Target="/ppt/notesMasters/notesMaster1.xml" Id="R08f5b15e981940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3e47f621314bcf" /><Relationship Type="http://schemas.openxmlformats.org/officeDocument/2006/relationships/notesMaster" Target="/ppt/notesMasters/notesMaster1.xml" Id="Re64beaee48f54b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22466b1ea6443e" /><Relationship Type="http://schemas.openxmlformats.org/officeDocument/2006/relationships/notesMaster" Target="/ppt/notesMasters/notesMaster1.xml" Id="R940291bb464646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20f70ba9504afc" /><Relationship Type="http://schemas.openxmlformats.org/officeDocument/2006/relationships/notesMaster" Target="/ppt/notesMasters/notesMaster1.xml" Id="Rbcb5810419754c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ff6ce9b6674c47" /><Relationship Type="http://schemas.openxmlformats.org/officeDocument/2006/relationships/notesMaster" Target="/ppt/notesMasters/notesMaster1.xml" Id="R7a2f4cda61fa49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1de0359754e71" /><Relationship Type="http://schemas.openxmlformats.org/officeDocument/2006/relationships/notesMaster" Target="/ppt/notesMasters/notesMaster1.xml" Id="R4c01fa81bdb14f4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216da4807145e5" /><Relationship Type="http://schemas.openxmlformats.org/officeDocument/2006/relationships/notesMaster" Target="/ppt/notesMasters/notesMaster1.xml" Id="Rd4ef882a5a4f43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0d035d44ec421c" /><Relationship Type="http://schemas.openxmlformats.org/officeDocument/2006/relationships/notesMaster" Target="/ppt/notesMasters/notesMaster1.xml" Id="Rd90ba1486afd43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2fc9f89a2d4d86" /><Relationship Type="http://schemas.openxmlformats.org/officeDocument/2006/relationships/notesMaster" Target="/ppt/notesMasters/notesMaster1.xml" Id="R77c9ef8726a5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an interactive comparison of five classical search algorithms.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these figures describe the packaged map and controlled configuration, not every possible maze.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972d699bd48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5d2475bb642c4" /><Relationship Type="http://schemas.openxmlformats.org/officeDocument/2006/relationships/slideLayout" Target="/ppt/slideLayouts/slideLayout1.xml" Id="Rc60520747a2f46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520747a2f46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a06394ac44c6a" /><Relationship Type="http://schemas.openxmlformats.org/officeDocument/2006/relationships/image" Target="/ppt/media/image.png" Id="Rbdbe34fedb064a29" /><Relationship Type="http://schemas.openxmlformats.org/officeDocument/2006/relationships/notesSlide" Target="/ppt/notesSlides/notesSlide1.xml" Id="R9e38613dfa764a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fc287fa404e92" /><Relationship Type="http://schemas.openxmlformats.org/officeDocument/2006/relationships/notesSlide" Target="/ppt/notesSlides/notesSlide2.xml" Id="R4bf6704d04b14a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e04dafa6746f4" /><Relationship Type="http://schemas.openxmlformats.org/officeDocument/2006/relationships/notesSlide" Target="/ppt/notesSlides/notesSlide3.xml" Id="R0b6e485306bc45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67f067a9247b3" /><Relationship Type="http://schemas.openxmlformats.org/officeDocument/2006/relationships/image" Target="/ppt/media/image2.png" Id="R10d9ebae4b1e40e3" /><Relationship Type="http://schemas.openxmlformats.org/officeDocument/2006/relationships/notesSlide" Target="/ppt/notesSlides/notesSlide4.xml" Id="R9c21586bf2aa40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55501417f4a8e" /><Relationship Type="http://schemas.openxmlformats.org/officeDocument/2006/relationships/image" Target="/ppt/media/image3.png" Id="R86a4fd144e9e48dc" /><Relationship Type="http://schemas.openxmlformats.org/officeDocument/2006/relationships/notesSlide" Target="/ppt/notesSlides/notesSlide5.xml" Id="Red39f99d364444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7419669d24123" /><Relationship Type="http://schemas.openxmlformats.org/officeDocument/2006/relationships/notesSlide" Target="/ppt/notesSlides/notesSlide6.xml" Id="R9c3b40f4bd7e44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221e6b63e4a73" /><Relationship Type="http://schemas.openxmlformats.org/officeDocument/2006/relationships/notesSlide" Target="/ppt/notesSlides/notesSlide7.xml" Id="R5a4561f07b9d42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8ca645d554e62" /><Relationship Type="http://schemas.openxmlformats.org/officeDocument/2006/relationships/notesSlide" Target="/ppt/notesSlides/notesSlide8.xml" Id="R6b9fa0e6340249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0c5f3eb8f4b21" /><Relationship Type="http://schemas.openxmlformats.org/officeDocument/2006/relationships/notesSlide" Target="/ppt/notesSlides/notesSlide9.xml" Id="R261a621850b340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664026ee94bd3" /><Relationship Type="http://schemas.openxmlformats.org/officeDocument/2006/relationships/notesSlide" Target="/ppt/notesSlides/notesSlide10.xml" Id="R7653cb37d2964d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478fed62e4ab0" /><Relationship Type="http://schemas.openxmlformats.org/officeDocument/2006/relationships/image" Target="/ppt/media/image4.png" Id="Ra5a4dc7bb1c240c7" /><Relationship Type="http://schemas.openxmlformats.org/officeDocument/2006/relationships/notesSlide" Target="/ppt/notesSlides/notesSlide11.xml" Id="R877c3a1204e54a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D3C50-85B9-4C33-88FB-C69DD275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471D7-2F31-4DB4-ACC4-0B487C4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838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0D089-3803-49CA-B71E-7A508F61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32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OPTIMIZED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0856D-3046-4F1D-BCC6-02B555FA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615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PAC-MAN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B7DE3-179F-4EE6-B600-982D881D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191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PATHFINDING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C00C0-5D38-4D9E-B1E6-31E073CF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Interactive artificial intelligence search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D59BF-8190-456C-9AEB-077D246E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BFS, DFS, UCS, Dijkstra, and A*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69C93-0C19-4B7B-ABD6-BDAF3924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Python 3.10+ with Pygame Community Edition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C9DA8-410D-476A-9D20-488D415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314450"/>
            <a:ext cx="6019800" cy="3810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e34fedb064a29"/>
          <a:stretch xmlns:a="http://schemas.openxmlformats.org/drawingml/2006/main"/>
        </p:blipFill>
        <p:spPr>
          <a:xfrm xmlns:a="http://schemas.openxmlformats.org/drawingml/2006/main">
            <a:off x="5715000" y="1373981"/>
            <a:ext cx="5905500" cy="3690938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AF5B5-70B6-4E44-88A9-9C965631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340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LIVE ROUTE 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16D5A-FDAE-408C-A1A5-A3FE896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578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Explored nodes, route cost, timing, and algorithm controls</a:t>
            </a:r>
          </a:p>
        </p:txBody>
      </p:sp>
    </p:spTree>
    <p:extLst>
      <p:ext uri="{BB962C8B-B14F-4D97-AF65-F5344CB8AC3E}">
        <p14:creationId xmlns:p14="http://schemas.microsoft.com/office/powerpoint/2010/main" val="1103885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BBF65-26CE-45BC-BDD1-BC46B688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5B464-67AC-437D-8436-76AC7BD0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26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44667-D053-4A83-ADD6-A477C5D5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Costs, constraints, and moving hazards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7C08B-135F-4281-AF38-320B0871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Problem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B4132-8918-4C16-BD6A-0C3AC657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FF526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52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9E5DA-1BFE-4758-89F1-EF6393C4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A00C2-EE60-493B-A529-E5051C62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17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 route with fewer steps can cross expensive terrain or move too close to a ghost.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C02EE-CC95-4C8E-9D84-253FFE50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762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Walls remove possible moves and create dead ends.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Each collected pellet creates a new search goal.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Terrain and ghost proximity change movement cost.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65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Moving ghosts can invalidate a previously safe route.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6E8EE-CD65-4C02-8801-8980130B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049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FF52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5269"/>
                </a:solidFill>
                <a:latin typeface="DejaVu Sans"/>
                <a:ea typeface="DejaVu Sans"/>
                <a:cs typeface="DejaVu Sans"/>
              </a:rPr>
              <a:t>Competing objectives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76950" y="2019300"/>
          <a:ext xmlns:a="http://schemas.openxmlformats.org/drawingml/2006/main" cx="53340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2095500"/>
              </a:tblGrid>
              <a:tr h="4381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526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35162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526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it optimizes</a:t>
                      </a:r>
                    </a:p>
                  </a:txBody>
                  <a:tcPr marL="91440" marR="91440" marT="45720" marB="45720" anchor="ctr">
                    <a:solidFill>
                      <a:srgbClr val="35162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526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solidFill>
                      <a:srgbClr val="35162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Fewest steps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Number of moves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Ignores weighted risk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Lowest cost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Terrain and danger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May use more steps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Live safety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Current ghost positions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Needs replanning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 mission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All pellets and exit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Requires repeated searches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79AC1-65FA-473B-9EB8-6CA698C8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95875"/>
            <a:ext cx="5105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The project must expose these trade-offs instead of reporting only one final path.</a:t>
            </a:r>
          </a:p>
        </p:txBody>
      </p:sp>
    </p:spTree>
    <p:extLst>
      <p:ext uri="{BB962C8B-B14F-4D97-AF65-F5344CB8AC3E}">
        <p14:creationId xmlns:p14="http://schemas.microsoft.com/office/powerpoint/2010/main" val="1263773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41EE89-6AD3-42E8-A452-7E15E089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86529-8788-4CA0-9499-EE5A9E58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C777F-CED3-488D-A0EA-707C9ED6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Search and replanning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318C2-4E07-4DC1-9A14-736B2A77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Proposed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6A69E-D08C-4118-9D79-BCD710DF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BCE68-0E11-405D-A3C1-F1D98B4E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BE5AF-2B0E-4F31-AEEA-EC556284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Every walkable cell becomes a graph node. Legal horizontal and vertical moves become edges.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E68BB-4C50-4B4D-A96D-97285FE6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9431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61A49-4B1E-42DF-86C0-35FCEA38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5A468-0025-49E2-859B-AB055A5B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Load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7060A-DE63-4510-B472-B6696E18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Generate and validate a connected maze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F95B1-2B69-4E7E-B7E5-BAC2F2CD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19431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F429D-8DD9-46C1-9190-B0420F2B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6C39D-8CDF-43BC-94B2-E3E34F82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Choose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E3C0FB-7B72-40A7-A002-A4D67D61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Select a pellet or the unlocked exit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CBFDE-B028-4D14-AA3D-A4CACF9C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28900"/>
            <a:ext cx="19431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82D42"/>
          </a:solidFill>
          <a:ln xmlns:a="http://schemas.openxmlformats.org/drawingml/2006/main" w="9525">
            <a:solidFill>
              <a:srgbClr val="47EB9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150E47-F3AA-408B-A74F-CEFF304A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C2432C-6F60-4D90-B76C-D1E78C17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Run 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F2A0E-547D-4519-A947-800BBFA0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528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Apply the selected algorithm and costs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E09F8-0DD3-498C-AAEF-7E28057E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28900"/>
            <a:ext cx="19431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C1C44-4738-4208-9887-31EDDA1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18B15-E629-4774-9F55-60C488F4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Move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8504B-76C5-4FF4-87BD-F14507DE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7528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Advance one cell and update game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2085E5-2E0B-4B92-A523-FED33D2A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194310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E61C9D-5688-4F85-B280-6D5AAD86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5081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849E2-CBEA-4221-9386-17502C81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337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Replan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58A46-C689-4F0E-AF28-69BCA0B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5285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Search again when the route ends or blocks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916B2-4EED-40A3-82EB-2E8696F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147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5020C-68F8-46BC-AF3D-66693A2F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AC420B-9DA2-4241-9C25-4155BC77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ED173-B072-49BE-B216-7AC07197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147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F7F707-F21E-41F7-8292-E914130A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0C1632"/>
          </a:solidFill>
          <a:ln xmlns:a="http://schemas.openxmlformats.org/drawingml/2006/main" w="9525">
            <a:solidFill>
              <a:srgbClr val="47EB9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DCC403-A92A-4DA0-AEEA-0D6EC2F6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41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Output: explored cells, selected route, step count, weighted cost, frontier peak, and planning time</a:t>
            </a:r>
          </a:p>
        </p:txBody>
      </p:sp>
    </p:spTree>
    <p:extLst>
      <p:ext uri="{BB962C8B-B14F-4D97-AF65-F5344CB8AC3E}">
        <p14:creationId xmlns:p14="http://schemas.microsoft.com/office/powerpoint/2010/main" val="7349362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752DC-89E0-40C4-8104-92E13897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129E1-F880-4EC2-864D-16A4BEA9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C2E65-D9B1-4205-8FAA-E6E4F375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Interactive pathfinding laboratory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9CC8D-5CDD-420B-B206-C1211B7D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Key features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AC4CC-363D-4CA7-957C-F0C684A4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286C4-7CA3-4A15-97E5-76E9EA7C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782BC-5B13-4C2E-9A63-BCDCBAF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7086600" cy="4743450"/>
          </a:xfrm>
          <a:prstGeom xmlns:a="http://schemas.openxmlformats.org/drawingml/2006/main" prst="roundRect">
            <a:avLst>
              <a:gd name="adj" fmla="val 4016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9ebae4b1e40e3"/>
          <a:stretch xmlns:a="http://schemas.openxmlformats.org/drawingml/2006/main"/>
        </p:blipFill>
        <p:spPr>
          <a:xfrm xmlns:a="http://schemas.openxmlformats.org/drawingml/2006/main">
            <a:off x="552450" y="1564481"/>
            <a:ext cx="6972300" cy="4357688"/>
          </a:xfrm>
          <a:prstGeom xmlns:a="http://schemas.openxmlformats.org/drawingml/2006/main" prst="roundRect">
            <a:avLst>
              <a:gd name="adj" fmla="val 329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35294-CB69-42FB-9881-08B34C3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43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The demo supports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1B6714-6D60-4DBD-947D-8DBE6511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52650"/>
            <a:ext cx="33909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5467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Animated explored cells and current route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Three deterministic, replayable mazes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Moving ghosts with automatic replanning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Pellets, power mode, lives, score, and exit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Pause, single-step, speed, reset, and map controls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0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Fair same-snapshot algorithm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1886D-9827-4E83-AA20-FDFA5546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4483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The interface makes internal search behavior visible during the game.</a:t>
            </a:r>
          </a:p>
        </p:txBody>
      </p:sp>
    </p:spTree>
    <p:extLst>
      <p:ext uri="{BB962C8B-B14F-4D97-AF65-F5344CB8AC3E}">
        <p14:creationId xmlns:p14="http://schemas.microsoft.com/office/powerpoint/2010/main" val="1837848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85547-E97C-400A-9FDC-8A8EC04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17C77-0932-457C-AC7D-4F1B6AFD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C4584-5578-4297-B3B1-61EBBC82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Grid state and movement cost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E657F-6481-4124-86F1-B2AE62E1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Search representation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A5F91-8712-43A3-9839-624FDC44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73EB2-6D24-4B7F-B06D-89B37EE6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F73FB-5C53-4477-A23E-70F0D403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409700"/>
            <a:ext cx="6496050" cy="4743450"/>
          </a:xfrm>
          <a:prstGeom xmlns:a="http://schemas.openxmlformats.org/drawingml/2006/main" prst="roundRect">
            <a:avLst>
              <a:gd name="adj" fmla="val 4016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4fd144e9e48dc"/>
          <a:stretch xmlns:a="http://schemas.openxmlformats.org/drawingml/2006/main"/>
        </p:blipFill>
        <p:spPr>
          <a:xfrm xmlns:a="http://schemas.openxmlformats.org/drawingml/2006/main">
            <a:off x="523875" y="1787128"/>
            <a:ext cx="6381750" cy="3988594"/>
          </a:xfrm>
          <a:prstGeom xmlns:a="http://schemas.openxmlformats.org/drawingml/2006/main" prst="roundRect">
            <a:avLst>
              <a:gd name="adj" fmla="val 329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B1F4-6C51-4C5D-A69F-145F05E1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061BE-AD10-4769-BDAC-6EDFA5CC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7642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(x, y) with up to four valid neighbors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E3364-2F56-47BB-8C17-894B9E86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Weighted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0EA7A-25DB-480A-9306-113AA7D8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38450"/>
            <a:ext cx="4000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  <p:txBody>
          <a:bodyPr xmlns:a="http://schemas.openxmlformats.org/drawingml/2006/main" wrap="square" lIns="76200" tIns="57150" rIns="76200" bIns="57150" anchor="ctr">
            <a:normAutofit fontScale="850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>
                <a:solidFill>
                  <a:srgbClr val="FFD32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D32F"/>
                </a:solidFill>
                <a:latin typeface="DejaVu Sans Mono"/>
                <a:ea typeface="DejaVu Sans Mono"/>
                <a:cs typeface="DejaVu Sans Mono"/>
              </a:rPr>
              <a:t>step_cost = terrain_cost + ghost_danger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FC548-D309-4377-BE81-000E929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718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Ghost danger penalty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7448550" y="3962400"/>
          <a:ext xmlns:a="http://schemas.openxmlformats.org/drawingml/2006/main" cx="4057650" cy="1009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571500"/>
                <a:gridCol w="571500"/>
                <a:gridCol w="571500"/>
                <a:gridCol w="571500"/>
                <a:gridCol w="571500"/>
              </a:tblGrid>
              <a:tr h="4381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Distance</a:t>
                      </a:r>
                    </a:p>
                  </a:txBody>
                  <a:tcPr marL="91440" marR="91440" marT="45720" marB="45720" anchor="ctr">
                    <a:solidFill>
                      <a:srgbClr val="38261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38261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38261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38261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38261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4+</a:t>
                      </a:r>
                    </a:p>
                  </a:txBody>
                  <a:tcPr marL="91440" marR="91440" marT="45720" marB="45720" anchor="ctr">
                    <a:solidFill>
                      <a:srgbClr val="38261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Added cost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E8F34-D457-4052-A72D-E64841D2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578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Terrain costs are 1, 2, or 3. BFS and DFS ignore weights while choosing a path, but the interface still reports the real cost.</a:t>
            </a:r>
          </a:p>
        </p:txBody>
      </p:sp>
    </p:spTree>
    <p:extLst>
      <p:ext uri="{BB962C8B-B14F-4D97-AF65-F5344CB8AC3E}">
        <p14:creationId xmlns:p14="http://schemas.microsoft.com/office/powerpoint/2010/main" val="14159209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1BD56-EBA2-4161-A742-D3300335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A0AF9-0B27-43C1-9E90-E8941AB5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AF44C-4EAC-4038-A939-F92D2168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Five algorithms, one search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69F4F-7127-40FE-85CD-66CD106D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Algorithm approach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53F84-E38F-414E-83CA-59557AC6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DE613-84C1-4925-90CB-1540B508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52450" y="1571625"/>
          <a:ext xmlns:a="http://schemas.openxmlformats.org/drawingml/2006/main" cx="110871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809750"/>
                <a:gridCol w="1714500"/>
                <a:gridCol w="2095500"/>
                <a:gridCol w="3657600"/>
              </a:tblGrid>
              <a:tr h="4381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Algorithm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Frontier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Uses weights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Guarantee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Best demonstration point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Queue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Fewest steps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Unweighted baseline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9A53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DFS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Stack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Finds a path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Non-optimal exploration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47EB9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Min-heap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cost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Accumulated path cost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8B30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Dijkstra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Min-heap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cost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Shortest-distance model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500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A*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Min-heap + h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Yes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Minimum cost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Goal-directed search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0CFD1-599F-43ED-8599-E335D720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10871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1152E"/>
          </a:solidFill>
          <a:ln xmlns:a="http://schemas.openxmlformats.org/drawingml/2006/main" w="9525">
            <a:solidFill>
              <a:srgbClr val="FF4CB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CAF0E-7211-4AED-92B7-E56E29B4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051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UCS and Dijkstra normally match here because the grid has non-negative costs, one source, and one target. Separate implementations support syllabus comparison.</a:t>
            </a:r>
          </a:p>
        </p:txBody>
      </p:sp>
    </p:spTree>
    <p:extLst>
      <p:ext uri="{BB962C8B-B14F-4D97-AF65-F5344CB8AC3E}">
        <p14:creationId xmlns:p14="http://schemas.microsoft.com/office/powerpoint/2010/main" val="229215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6932F-97ED-4A20-BF2B-F6AFCD9F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94E7B-0B16-492D-8445-34823C2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A6954-DAA0-4D29-A3A9-D43237F6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2F3E2-CF00-4A0E-BB20-24FC0ACB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Module responsibilities and data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E719E-451C-4148-A616-1902E3B6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50D8A-497A-48A6-A6AB-D788B87F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9B7DD-7D6E-46A6-9898-FC90A58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5722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DE0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22031-EF8A-4D75-9500-2D4775C4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4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9D9C2-334A-41D3-AA5A-30DC701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478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Pygame 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2E171-4917-40A7-BA88-3FEC31EE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812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DE0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2DE0FF"/>
                </a:solidFill>
                <a:latin typeface="DejaVu Sans Mono"/>
                <a:ea typeface="DejaVu Sans Mono"/>
                <a:cs typeface="DejaVu Sans Mono"/>
              </a:rPr>
              <a:t>app.py  •  ui.py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10039-7D01-40CA-89B5-78FE702A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5722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FF4CB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91621-E652-4EA7-B0B3-B4BC8D1D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4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508FDB-A2FB-4CB4-888C-B516E58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527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Game state and planning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48D60-A5F7-4D10-9254-4222DF8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FF4CB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4CB9"/>
                </a:solidFill>
                <a:latin typeface="DejaVu Sans Mono"/>
                <a:ea typeface="DejaVu Sans Mono"/>
                <a:cs typeface="DejaVu Sans Mono"/>
              </a:rPr>
              <a:t>session.py  •  planner.py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68F5B-9537-461E-A54E-9A47B9E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5722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47EB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129E1-C760-46A4-8FEF-A2263726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4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312E3-6968-41B8-847C-0CC7B818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Search engine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34EB69-8B8E-43C7-9065-A7C2390B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algorithms.py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B2BAD-FC1B-45DB-897F-E969DB66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65722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FF8B3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7A031-251E-4386-987F-0CF7DC60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47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97872C-2851-4782-ACBB-D665E8AE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62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Maze, models, and configuration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4DC29-639D-45AE-AB5C-D6D9378B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959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FF8B3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FF8B30"/>
                </a:solidFill>
                <a:latin typeface="DejaVu Sans Mono"/>
                <a:ea typeface="DejaVu Sans Mono"/>
                <a:cs typeface="DejaVu Sans Mono"/>
              </a:rPr>
              <a:t>maze.py  •  models.py  •  JSON maps</a:t>
            </a:r>
          </a:p>
        </p:txBody>
      </p: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971925" y="23050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C6F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971925" y="34099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C6F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3971925" y="45148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B3C6F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FA2D8-BC11-4E16-ACB1-55AB2071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19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4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Why this separation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48BDF6-B1C8-4043-A14E-01359AD4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333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9249"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Search code does not depend on Pygame.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Tests can use a tiny in-memory grid.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Maps can change without rewriting algorithms.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UI changes do not alter path correctness.</a:t>
            </a:r>
          </a:p>
          <a:p xmlns:a="http://schemas.openxmlformats.org/drawingml/2006/main">
            <a:pPr marL="228600" indent="-114300">
              <a:lnSpc>
                <a:spcPct val="108000"/>
              </a:lnSpc>
              <a:spcAft>
                <a:spcPts val="1100"/>
              </a:spcAft>
              <a:buNone/>
              <a:def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New algorithms use the same SearchProblem contract.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38707-A7AB-49DA-A4AC-46920ED7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34000"/>
            <a:ext cx="3714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  <p:txBody>
          <a:bodyPr xmlns:a="http://schemas.openxmlformats.org/drawingml/2006/main" wrap="square" lIns="57150" tIns="57150" rIns="57150" bIns="57150" anchor="ctr">
            <a:normAutofit fontScale="759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>
                <a:solidFill>
                  <a:srgbClr val="FFD32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0">
                <a:solidFill>
                  <a:srgbClr val="FFD32F"/>
                </a:solidFill>
                <a:latin typeface="DejaVu Sans Mono"/>
                <a:ea typeface="DejaVu Sans Mono"/>
                <a:cs typeface="DejaVu Sans Mono"/>
              </a:rPr>
              <a:t>SearchProblem(start, goal, neighbors, step_cost)</a:t>
            </a:r>
          </a:p>
        </p:txBody>
      </p:sp>
    </p:spTree>
    <p:extLst>
      <p:ext uri="{BB962C8B-B14F-4D97-AF65-F5344CB8AC3E}">
        <p14:creationId xmlns:p14="http://schemas.microsoft.com/office/powerpoint/2010/main" val="17674345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96577-F69A-4855-98EA-33764369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BCD22-5039-4389-BAB4-CBAB1C31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2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BD026-50C3-476D-BF27-9D2BDAB6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Programming language and technologies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A6D42-3765-4308-964F-EB23010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Implementation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742CA-5F05-40B4-9E46-CA190848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038C0-E214-49C7-B7E5-4E77E58B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46135-1B09-40A4-8F04-95EB4CBB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19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5400" b="1">
                <a:solidFill>
                  <a:srgbClr val="FFD32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D32F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2D282-7DD0-4011-9FD0-B2518300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3.10+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E5EAB-76D7-493C-9A5F-361FE906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4762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91428"/>
          </a:solidFill>
          <a:ln xmlns:a="http://schemas.openxmlformats.org/drawingml/2006/main" w="9525">
            <a:solidFill>
              <a:srgbClr val="2B3C6F"/>
            </a:solidFill>
          </a:ln>
        </p:spPr>
        <p:txBody>
          <a:bodyPr xmlns:a="http://schemas.openxmlformats.org/drawingml/2006/main" wrap="square" lIns="228600" tIns="228600" rIns="209550" bIns="1905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SearchProblem(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  start=(x1, y1),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  goal=(x2, y2),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  neighbors=maze.neighbors,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  step_cost=cost_function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47EB98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60153-C465-482E-B0D0-23DBB5AE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97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10EAE-9EE7-4514-BEE8-A887B6D9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Pygame CE 2.5.6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3146D-212E-4955-A012-15EEC54B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145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Window, graphics, input, timing, and optional audio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54B87-4A41-4C40-AB08-E975FF11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6697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B49F1-CC80-4454-9B51-D5796A29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BD5A8C-B02D-4D8E-A195-B29CAFD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717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Readable deterministic map configurations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5FC79-C745-4370-A9EE-CA60EEB7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242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B9122-4A4A-4655-A706-C6F756A4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Python standard library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FEBE4-3FB9-496C-834E-643FCAA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290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dataclasses, enum, heapq, deque, and timing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2B7D2D-11A0-4B03-9C17-29CFCC3C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8147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B3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6D42D9-EC22-4050-85DF-85B72A2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F8B3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8B30"/>
                </a:solidFill>
                <a:latin typeface="DejaVu Sans"/>
                <a:ea typeface="DejaVu Sans"/>
                <a:cs typeface="DejaVu Sans"/>
              </a:rPr>
              <a:t>unittest and pytest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AB45F-B6A2-48E7-9714-4A22866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Automated algorithm, map, and session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620E6-5046-4F0F-AA48-3039E1FA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38725"/>
            <a:ext cx="76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3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14A3D-5D77-40F0-896C-64D78E9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00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9A5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9A53FF"/>
                </a:solidFill>
                <a:latin typeface="DejaVu Sans"/>
                <a:ea typeface="DejaVu Sans"/>
                <a:cs typeface="DejaVu Sans"/>
              </a:rPr>
              <a:t>Git and GitHub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E111DC-DC00-4A7F-883A-E42182A6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435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Branch-based collaboration and code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FB4775-81DA-443D-8E87-956AE3FF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055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No API key, database, or network service is required.</a:t>
            </a:r>
          </a:p>
        </p:txBody>
      </p:sp>
    </p:spTree>
    <p:extLst>
      <p:ext uri="{BB962C8B-B14F-4D97-AF65-F5344CB8AC3E}">
        <p14:creationId xmlns:p14="http://schemas.microsoft.com/office/powerpoint/2010/main" val="3060034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0E636-7BC2-4759-B7FA-7F3E3D1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93862-231F-48C1-A683-C50FE724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EB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3F655-AE8A-4DFB-A700-EA9D701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Role-based task assignment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A704C-0F16-4269-B2B0-B66C1C81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Ownership without personal identifiers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CE134-AA9D-4846-990A-6FDE066F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A8892-5347-46CC-9F36-BAFF90BA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1562100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5143500"/>
                <a:gridCol w="3571875"/>
              </a:tblGrid>
              <a:tr h="4381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47EB9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 role</a:t>
                      </a:r>
                    </a:p>
                  </a:txBody>
                  <a:tcPr marL="91440" marR="91440" marT="45720" marB="45720" anchor="ctr">
                    <a:solidFill>
                      <a:srgbClr val="163329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47EB9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Primary responsibility</a:t>
                      </a:r>
                    </a:p>
                  </a:txBody>
                  <a:tcPr marL="91440" marR="91440" marT="45720" marB="45720" anchor="ctr">
                    <a:solidFill>
                      <a:srgbClr val="163329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47EB98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Required cross-review</a:t>
                      </a:r>
                    </a:p>
                  </a:txBody>
                  <a:tcPr marL="91440" marR="91440" marT="45720" marB="45720" anchor="ctr">
                    <a:solidFill>
                      <a:srgbClr val="163329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Integration lead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Architecture, branches, releases, final build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Game-state integration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Search lead A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BFS, DFS, UCS, and algorithm tests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Dijkstra and A* behavior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Search lead B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Dijkstra, A*, cost model, and metrics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BFS, DFS, and UCS behavior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Interface lead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Pygame UI, animation, controls, and readability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Gameplay and demo flow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Quality lead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Maps, game rules, testing, documentation, rehearsal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Acceptance checklist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60784-8562-4DBF-8452-DDA484C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57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3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Shared familiarity requirement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43F26-B683-475D-9676-F3EE63C1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Every contributor should explain the graph model, queue versus stack versus priority queue, the cost function, the A* heuristic, UCS–Dijkstra equivalence, and one automated test.</a:t>
            </a:r>
          </a:p>
        </p:txBody>
      </p:sp>
    </p:spTree>
    <p:extLst>
      <p:ext uri="{BB962C8B-B14F-4D97-AF65-F5344CB8AC3E}">
        <p14:creationId xmlns:p14="http://schemas.microsoft.com/office/powerpoint/2010/main" val="11852099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997C76-CE71-4DDA-B7DC-F9788452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1114-47A3-4EC6-98E1-52B6196C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E0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3D10E-8E68-4D6B-929F-75D2B554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Three-week implementation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305AA-5335-4FAF-ADD5-BE1B2550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Milestones and deliverables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95C77-418A-4C01-A04E-B78E2287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2DE0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DE0FF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37841-BA16-4312-A3D0-97C1EB4C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95300" y="1638300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257550"/>
                <a:gridCol w="3257550"/>
                <a:gridCol w="3257550"/>
              </a:tblGrid>
              <a:tr h="4381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02E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 1: Search foundation</a:t>
                      </a:r>
                    </a:p>
                  </a:txBody>
                  <a:tcPr marL="91440" marR="91440" marT="45720" marB="45720" anchor="ctr">
                    <a:solidFill>
                      <a:srgbClr val="102E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 2: Game integration</a:t>
                      </a:r>
                    </a:p>
                  </a:txBody>
                  <a:tcPr marL="91440" marR="91440" marT="45720" marB="45720" anchor="ctr">
                    <a:solidFill>
                      <a:srgbClr val="102E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2DE0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Week 3: Validation and presentation</a:t>
                      </a:r>
                    </a:p>
                  </a:txBody>
                  <a:tcPr marL="91440" marR="91440" marT="45720" marB="45720" anchor="ctr">
                    <a:solidFill>
                      <a:srgbClr val="102E3A"/>
                    </a:solidFill>
                  </a:tcPr>
                </a:tc>
              </a:tr>
              <a:tr h="110490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Main work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Problem model, five algorithms, path reconstruction, map validation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Game rules, dynamic ghosts, route visualization, controls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Cross-platform tests, visual QA, documentation, rehearsal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110490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Milestone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Every engine returns a valid SearchResult on connected maps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Pac-Man completes a static mission and replans around movement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 clean ZIP installs, passes tests, and supports a five-minute demo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110490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Deliverables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Algorithms, models, maps, and unit tests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Playable application, comparison screen, and screenshots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README, report, viva guide, test log, and final release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133A2-A178-4298-A639-83EE74EA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Completion gate: every owner runs the tests, opens the game, explains an assigned module, and signs the shared familiarity checklist.</a:t>
            </a:r>
          </a:p>
        </p:txBody>
      </p:sp>
    </p:spTree>
    <p:extLst>
      <p:ext uri="{BB962C8B-B14F-4D97-AF65-F5344CB8AC3E}">
        <p14:creationId xmlns:p14="http://schemas.microsoft.com/office/powerpoint/2010/main" val="1604493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508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A8765-0026-4D87-946D-BA26F132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164A0-36CD-4EB9-A2D2-9D955BE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CB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28062-6961-4EDD-9449-18822DD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Verified demonstration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78BD2-E798-43B2-A068-C7D58FAB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297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Controlled first-map run with ghosts removed for repeatability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CDAA2-1CA6-4E19-B1D8-2DDBF22B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286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55380-D343-469D-9B77-CA360422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C6F"/>
            </a:solidFill>
          </a:ln>
        </p:spPr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4762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47750"/>
                <a:gridCol w="952500"/>
                <a:gridCol w="1143000"/>
              </a:tblGrid>
              <a:tr h="4381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Algorithm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Steps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Cost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4CB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Expanded</a:t>
                      </a:r>
                    </a:p>
                  </a:txBody>
                  <a:tcPr marL="91440" marR="91440" marT="45720" marB="45720" anchor="ctr">
                    <a:solidFill>
                      <a:srgbClr val="321734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BFS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250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1,168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DFS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664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4,137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UCS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260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1,093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Dijkstra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260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1,093</a:t>
                      </a:r>
                    </a:p>
                  </a:txBody>
                  <a:tcPr marL="91440" marR="91440" marT="45720" marB="45720" anchor="ctr">
                    <a:solidFill>
                      <a:srgbClr val="101A3A"/>
                    </a:solidFill>
                  </a:tcPr>
                </a:tc>
              </a:tr>
              <a:tr h="476250"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EEF4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A*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260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  <a:tc>
                  <a:txBody>
                    <a:bodyPr wrap="square" lIns="95250" tIns="57150" rIns="76200" bIns="57150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91A4C3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0B1230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9FBB5-9427-4601-8105-09BEC2C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450" b="1">
                <a:solidFill>
                  <a:srgbClr val="47EB98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47EB98"/>
                </a:solidFill>
                <a:latin typeface="DejaVu Sans"/>
                <a:ea typeface="DejaVu Sans"/>
                <a:cs typeface="DejaVu Sans"/>
              </a:rPr>
              <a:t>10/10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70D61-FB2F-4CE5-9333-9B2ADAD6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054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automated tests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93233-4834-4496-BFA9-0A775712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95875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3450" b="1">
                <a:solidFill>
                  <a:srgbClr val="FF4CB9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4CB9"/>
                </a:solidFill>
                <a:latin typeface="DejaVu Sans"/>
                <a:ea typeface="DejaVu Sans"/>
                <a:cs typeface="DejaVu Sans"/>
              </a:rPr>
              <a:t>624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5603B-1932-4F26-A320-4D6EABA6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05475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A* expanded nodes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86EAA-9FB7-44A4-B8C1-2ACF275C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62100"/>
            <a:ext cx="5734050" cy="4019550"/>
          </a:xfrm>
          <a:prstGeom xmlns:a="http://schemas.openxmlformats.org/drawingml/2006/main" prst="roundRect">
            <a:avLst>
              <a:gd name="adj" fmla="val 4739"/>
            </a:avLst>
          </a:prstGeom>
          <a:solidFill xmlns:a="http://schemas.openxmlformats.org/drawingml/2006/main">
            <a:srgbClr val="101A3A"/>
          </a:solidFill>
          <a:ln xmlns:a="http://schemas.openxmlformats.org/drawingml/2006/main" w="9525">
            <a:solidFill>
              <a:srgbClr val="2B3C6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4dc7bb1c240c7"/>
          <a:stretch xmlns:a="http://schemas.openxmlformats.org/drawingml/2006/main"/>
        </p:blipFill>
        <p:spPr>
          <a:xfrm xmlns:a="http://schemas.openxmlformats.org/drawingml/2006/main">
            <a:off x="5810250" y="1815703"/>
            <a:ext cx="5619750" cy="3512344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492EC-E056-4158-90D1-E5007BCA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91A4C3"/>
                </a:solidFill>
                <a:latin typeface="DejaVu Sans"/>
                <a:ea typeface="DejaVu Sans"/>
                <a:cs typeface="DejaVu Sans"/>
              </a:rPr>
              <a:t>Single-target comparison screen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B84E7-6A07-4C86-9B82-922E5EAF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48375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5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>
                <a:solidFill>
                  <a:srgbClr val="EEF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EEF4FF"/>
                </a:solidFill>
                <a:latin typeface="DejaVu Sans"/>
                <a:ea typeface="DejaVu Sans"/>
                <a:cs typeface="DejaVu Sans"/>
              </a:rPr>
              <a:t>The controlled result shows the expected trade-off: BFS used fewer steps, weighted methods reduced cost, and A* reduced search work.</a:t>
            </a:r>
          </a:p>
        </p:txBody>
      </p:sp>
    </p:spTree>
    <p:extLst>
      <p:ext uri="{BB962C8B-B14F-4D97-AF65-F5344CB8AC3E}">
        <p14:creationId xmlns:p14="http://schemas.microsoft.com/office/powerpoint/2010/main" val="2107326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2026-09-11T18:51:44.8830000Z</dcterms:created>
  <dcterms:modified xsi:type="dcterms:W3CDTF">2026-09-11T18:51:44.8840000Z</dcterms:modified>
</coreProperties>
</file>