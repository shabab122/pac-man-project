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d70f9d93784644" /><Relationship Type="http://schemas.openxmlformats.org/officeDocument/2006/relationships/extended-properties" Target="/docProps/app.xml" Id="R1d3f84d3f0704f73" /><Relationship Type="http://schemas.openxmlformats.org/officeDocument/2006/relationships/officeDocument" Target="/ppt/presentation.xml" Id="Rb733ee9c6acc45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a691e9b7fd4faa"/>
  </p:sldMasterIdLst>
  <p:notesMasterIdLst>
    <p:notesMasterId xmlns:r="http://schemas.openxmlformats.org/officeDocument/2006/relationships" r:id="Re8e1ffaf34f8444e"/>
  </p:notesMasterIdLst>
  <p:sldIdLst>
    <p:sldId xmlns:r="http://schemas.openxmlformats.org/officeDocument/2006/relationships" id="256" r:id="Rc60bc51360354228"/>
    <p:sldId xmlns:r="http://schemas.openxmlformats.org/officeDocument/2006/relationships" id="257" r:id="Rbe521aa7c58649cb"/>
    <p:sldId xmlns:r="http://schemas.openxmlformats.org/officeDocument/2006/relationships" id="258" r:id="Rda3709f3ebf944b8"/>
    <p:sldId xmlns:r="http://schemas.openxmlformats.org/officeDocument/2006/relationships" id="259" r:id="Rc920ec82809849cb"/>
    <p:sldId xmlns:r="http://schemas.openxmlformats.org/officeDocument/2006/relationships" id="260" r:id="R58541f06680f4e49"/>
    <p:sldId xmlns:r="http://schemas.openxmlformats.org/officeDocument/2006/relationships" id="261" r:id="Rd6e9a810cff94b28"/>
    <p:sldId xmlns:r="http://schemas.openxmlformats.org/officeDocument/2006/relationships" id="262" r:id="Rab429970ceef4c4b"/>
    <p:sldId xmlns:r="http://schemas.openxmlformats.org/officeDocument/2006/relationships" id="263" r:id="R6971e8a5dcee4906"/>
    <p:sldId xmlns:r="http://schemas.openxmlformats.org/officeDocument/2006/relationships" id="264" r:id="R56fe9218fbbd4725"/>
    <p:sldId xmlns:r="http://schemas.openxmlformats.org/officeDocument/2006/relationships" id="265" r:id="R510fb085f2df42f9"/>
    <p:sldId xmlns:r="http://schemas.openxmlformats.org/officeDocument/2006/relationships" id="266" r:id="R7329dfdb6b15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b3abfd13f4c57" /><Relationship Type="http://schemas.openxmlformats.org/officeDocument/2006/relationships/slideMaster" Target="/ppt/slideMasters/slideMaster1.xml" Id="R3aa691e9b7fd4faa" /><Relationship Type="http://schemas.openxmlformats.org/officeDocument/2006/relationships/notesMaster" Target="/ppt/notesMasters/notesMaster1.xml" Id="Re8e1ffaf34f8444e" /><Relationship Type="http://schemas.openxmlformats.org/officeDocument/2006/relationships/presProps" Target="/ppt/presProps.xml" Id="R7299312e63444a8d" /><Relationship Type="http://schemas.openxmlformats.org/officeDocument/2006/relationships/tableStyles" Target="/ppt/tableStyles.xml" Id="R82d53bed3d6e4cc8" /><Relationship Type="http://schemas.openxmlformats.org/officeDocument/2006/relationships/slide" Target="/ppt/slides/slide1.xml" Id="Rc60bc51360354228" /><Relationship Type="http://schemas.openxmlformats.org/officeDocument/2006/relationships/slide" Target="/ppt/slides/slide2.xml" Id="Rbe521aa7c58649cb" /><Relationship Type="http://schemas.openxmlformats.org/officeDocument/2006/relationships/slide" Target="/ppt/slides/slide3.xml" Id="Rda3709f3ebf944b8" /><Relationship Type="http://schemas.openxmlformats.org/officeDocument/2006/relationships/slide" Target="/ppt/slides/slide4.xml" Id="Rc920ec82809849cb" /><Relationship Type="http://schemas.openxmlformats.org/officeDocument/2006/relationships/slide" Target="/ppt/slides/slide5.xml" Id="R58541f06680f4e49" /><Relationship Type="http://schemas.openxmlformats.org/officeDocument/2006/relationships/slide" Target="/ppt/slides/slide6.xml" Id="Rd6e9a810cff94b28" /><Relationship Type="http://schemas.openxmlformats.org/officeDocument/2006/relationships/slide" Target="/ppt/slides/slide7.xml" Id="Rab429970ceef4c4b" /><Relationship Type="http://schemas.openxmlformats.org/officeDocument/2006/relationships/slide" Target="/ppt/slides/slide8.xml" Id="R6971e8a5dcee4906" /><Relationship Type="http://schemas.openxmlformats.org/officeDocument/2006/relationships/slide" Target="/ppt/slides/slide9.xml" Id="R56fe9218fbbd4725" /><Relationship Type="http://schemas.openxmlformats.org/officeDocument/2006/relationships/slide" Target="/ppt/slides/slide10.xml" Id="R510fb085f2df42f9" /><Relationship Type="http://schemas.openxmlformats.org/officeDocument/2006/relationships/slide" Target="/ppt/slides/slide11.xml" Id="R7329dfdb6b15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691e89154d41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a108592ca4c76" /><Relationship Type="http://schemas.openxmlformats.org/officeDocument/2006/relationships/notesMaster" Target="/ppt/notesMasters/notesMaster1.xml" Id="R712a1d9ec27643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89f1a80be9426d" /><Relationship Type="http://schemas.openxmlformats.org/officeDocument/2006/relationships/notesMaster" Target="/ppt/notesMasters/notesMaster1.xml" Id="Rfdcd9fa3bbab4b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9dae4a7cf54d99" /><Relationship Type="http://schemas.openxmlformats.org/officeDocument/2006/relationships/notesMaster" Target="/ppt/notesMasters/notesMaster1.xml" Id="R6c63ef8ef6464f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d5129348dc456a" /><Relationship Type="http://schemas.openxmlformats.org/officeDocument/2006/relationships/notesMaster" Target="/ppt/notesMasters/notesMaster1.xml" Id="R76e646bd50d243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26086baa3c441d" /><Relationship Type="http://schemas.openxmlformats.org/officeDocument/2006/relationships/notesMaster" Target="/ppt/notesMasters/notesMaster1.xml" Id="R52fdef45fc8d4e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efa4caf9674030" /><Relationship Type="http://schemas.openxmlformats.org/officeDocument/2006/relationships/notesMaster" Target="/ppt/notesMasters/notesMaster1.xml" Id="R0c99960d2ebf4f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f01701f78e4282" /><Relationship Type="http://schemas.openxmlformats.org/officeDocument/2006/relationships/notesMaster" Target="/ppt/notesMasters/notesMaster1.xml" Id="R3e464daf0147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731cdb7d154649" /><Relationship Type="http://schemas.openxmlformats.org/officeDocument/2006/relationships/notesMaster" Target="/ppt/notesMasters/notesMaster1.xml" Id="R7f4e1f93bf2c43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669e6fd2164d1b" /><Relationship Type="http://schemas.openxmlformats.org/officeDocument/2006/relationships/notesMaster" Target="/ppt/notesMasters/notesMaster1.xml" Id="R9fa6d5982a6f48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8dec76cbd8474a" /><Relationship Type="http://schemas.openxmlformats.org/officeDocument/2006/relationships/notesMaster" Target="/ppt/notesMasters/notesMaster1.xml" Id="R20ae78f3a7594d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028496ad9348fd" /><Relationship Type="http://schemas.openxmlformats.org/officeDocument/2006/relationships/notesMaster" Target="/ppt/notesMasters/notesMaster1.xml" Id="Rda92c42c1f4f48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both a finished Pac-Man-style game and an AI laboratory. Emphasize that every feature shown in this deck exists in the delivered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problems: weighted movement cost, dynamic ghost danger, and the need for transparent comparisons. Point to the live overlays in the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right. The important distinction is that planning repeats during play. A route is evidence for the next move, not a fixed script for the entire 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the interface is not only visual polish. The Play Control tab supports the game loop, while the AI Workbench exposes algorithms, experiments, explanations, and exports.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cost function. BFS and DFS ignore weights while choosing a path. UCS, Dijkstra, and A* use non-negative weighted cost. Fair comparison requires an identical frozen game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data structures and guarantees. Clarify the UCS and Dijkstra relationship. AUTO is a transparent selection rule, not a new search algorithm.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editable chart to compare the three implemented heuristic modes. Manhattan preserves the standard optimal A* property. Weighted A* is intentionally more aggressive and must be described as a speed trade-off.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separation of concerns. Algorithms do not depend on Pygame. The session coordinates live state. Evidence modules turn AI behavior into files that can be reviewed after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expanded learning loop. A student can create a scenario, ask why a route was chosen, then preserve the mission as replay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role names instead of personal details. Explain the weekly milestones and the shared familiarity requirement so the whole team can answer basic viva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evidence. The archive includes reproducible tests, a startup smoke check, ten QA screens, sample export files, and the editable source code. Avoid claiming Weighted A* is always optimal.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9e91e340e41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b08d8691724237" /><Relationship Type="http://schemas.openxmlformats.org/officeDocument/2006/relationships/slideLayout" Target="/ppt/slideLayouts/slideLayout1.xml" Id="Rd3834e7c037646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834e7c037646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938c5de7a4fea" /><Relationship Type="http://schemas.openxmlformats.org/officeDocument/2006/relationships/image" Target="/ppt/media/image.png" Id="R5531d1b3bfa14326" /><Relationship Type="http://schemas.openxmlformats.org/officeDocument/2006/relationships/notesSlide" Target="/ppt/notesSlides/notesSlide1.xml" Id="R51345248c6c8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109e1bb7348a9" /><Relationship Type="http://schemas.openxmlformats.org/officeDocument/2006/relationships/image" Target="/ppt/media/image2.png" Id="R8254ba18a8024c0b" /><Relationship Type="http://schemas.openxmlformats.org/officeDocument/2006/relationships/notesSlide" Target="/ppt/notesSlides/notesSlide2.xml" Id="R9ffaec1f9351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6c3ca79b54acd" /><Relationship Type="http://schemas.openxmlformats.org/officeDocument/2006/relationships/notesSlide" Target="/ppt/notesSlides/notesSlide3.xml" Id="Rc27b549b5e6b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7abfd9a614d16" /><Relationship Type="http://schemas.openxmlformats.org/officeDocument/2006/relationships/image" Target="/ppt/media/image3.png" Id="R15a0f89d4e9e45e3" /><Relationship Type="http://schemas.openxmlformats.org/officeDocument/2006/relationships/notesSlide" Target="/ppt/notesSlides/notesSlide4.xml" Id="R364ff7a3568947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da2a00c234f9f" /><Relationship Type="http://schemas.openxmlformats.org/officeDocument/2006/relationships/image" Target="/ppt/media/image4.png" Id="R052672884fe24da6" /><Relationship Type="http://schemas.openxmlformats.org/officeDocument/2006/relationships/notesSlide" Target="/ppt/notesSlides/notesSlide5.xml" Id="Rbec7b5edf3d344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6338cc674980" /><Relationship Type="http://schemas.openxmlformats.org/officeDocument/2006/relationships/notesSlide" Target="/ppt/notesSlides/notesSlide6.xml" Id="R2e5e0ccbffa64a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2da7ff46a4399" /><Relationship Type="http://schemas.openxmlformats.org/officeDocument/2006/relationships/chart" Target="/ppt/slides/charts/chart1.xml" Id="Ra876446c8daf422f" /><Relationship Type="http://schemas.openxmlformats.org/officeDocument/2006/relationships/notesSlide" Target="/ppt/notesSlides/notesSlide7.xml" Id="Rf3bb40fecbf347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a3b2f86847db" /><Relationship Type="http://schemas.openxmlformats.org/officeDocument/2006/relationships/notesSlide" Target="/ppt/notesSlides/notesSlide8.xml" Id="R98a23b3aad6844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38080836d4dae" /><Relationship Type="http://schemas.openxmlformats.org/officeDocument/2006/relationships/image" Target="/ppt/media/image5.png" Id="Ra3b24ec14462418f" /><Relationship Type="http://schemas.openxmlformats.org/officeDocument/2006/relationships/image" Target="/ppt/media/image6.png" Id="R6bce77065bf4466a" /><Relationship Type="http://schemas.openxmlformats.org/officeDocument/2006/relationships/image" Target="/ppt/media/image7.png" Id="R62770934ab4e4ec0" /><Relationship Type="http://schemas.openxmlformats.org/officeDocument/2006/relationships/notesSlide" Target="/ppt/notesSlides/notesSlide9.xml" Id="Rec6223ace3e34f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ba048a93744b9" /><Relationship Type="http://schemas.openxmlformats.org/officeDocument/2006/relationships/notesSlide" Target="/ppt/notesSlides/notesSlide10.xml" Id="R18bb0791ecdc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07cdf2b7f46ce" /><Relationship Type="http://schemas.openxmlformats.org/officeDocument/2006/relationships/image" Target="/ppt/media/image8.png" Id="R79d00fcda8dc41d8" /><Relationship Type="http://schemas.openxmlformats.org/officeDocument/2006/relationships/image" Target="/ppt/media/image9.png" Id="R7e52afa0fac24c78" /><Relationship Type="http://schemas.openxmlformats.org/officeDocument/2006/relationships/notesSlide" Target="/ppt/notesSlides/notesSlide11.xml" Id="R8db1cc11b08041a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Average explored nodes by A* heuristic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EEF4FF"/>
              </a:solidFill>
              <a:latin typeface="DejaVu Sans"/>
              <a:ea typeface="DejaVu Sans"/>
              <a:cs typeface="DejaVu Sans"/>
            </a:defRPr>
          </a:pPr>
        </a:p>
      </c:txPr>
    </c:title>
    <c:plotArea>
      <c:barChart>
        <c:barDir val="bar"/>
        <c:grouping val="clustered"/>
        <c:varyColors val="1"/>
        <c:ser>
          <c:idx val="0"/>
          <c:order val="0"/>
          <c:tx>
            <c:v>Explored nodes</c:v>
          </c:tx>
          <c:spPr>
            <a:solidFill xmlns:a="http://schemas.openxmlformats.org/drawingml/2006/main">
              <a:srgbClr val="2DE0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DE0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A53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D32F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Manhattan</c:v>
                </c:pt>
                <c:pt idx="1">
                  <c:v>Euclidean</c:v>
                </c:pt>
                <c:pt idx="2">
                  <c:v>Weighted A*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151.2</c:v>
                </c:pt>
                <c:pt idx="1">
                  <c:v>157.4</c:v>
                </c:pt>
                <c:pt idx="2">
                  <c:v>132.6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EEF4FF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4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24315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91A4C3"/>
                    </a:solidFill>
                    <a:latin typeface="DejaVu Sans"/>
                    <a:ea typeface="DejaVu Sans"/>
                    <a:cs typeface="DejaVu Sans"/>
                  </a:rPr>
                  <a:t>Explored nodes - lower is better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91A4C3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45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  <c:majorUnit val="30"/>
      </c:valAx>
      <c:spPr>
        <a:solidFill xmlns:a="http://schemas.openxmlformats.org/drawingml/2006/main">
          <a:srgbClr val="0D1430"/>
        </a:solidFill>
        <a:ln xmlns:a="http://schemas.openxmlformats.org/drawingml/2006/main" w="0">
          <a:solidFill>
            <a:srgbClr val="0D1430"/>
          </a:solidFill>
          <a:prstDash val="solid"/>
        </a:ln>
      </c:spPr>
    </c:plotArea>
    <c:plotVisOnly val="1"/>
  </c:chart>
  <c:spPr>
    <a:solidFill xmlns:a="http://schemas.openxmlformats.org/drawingml/2006/main">
      <a:srgbClr val="0D1430"/>
    </a:solidFill>
    <a:ln xmlns:a="http://schemas.openxmlformats.org/drawingml/2006/main" w="9525">
      <a:solidFill>
        <a:srgbClr val="26345D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083E5-D876-48FC-96E2-F6C99754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70334-29B6-4EE6-B0EC-DB759556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67300"/>
            <a:ext cx="165735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32F">
              <a:alpha val="6275"/>
            </a:srgbClr>
          </a:solidFill>
          <a:ln xmlns:a="http://schemas.openxmlformats.org/drawingml/2006/main" w="19050">
            <a:solidFill>
              <a:srgbClr val="FFD32F">
                <a:alpha val="18824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C89C46-07ED-4941-BED0-34B0A41D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095500" cy="304800"/>
          </a:xfrm>
          <a:prstGeom xmlns:a="http://schemas.openxmlformats.org/drawingml/2006/main" prst="roundRect">
            <a:avLst>
              <a:gd name="adj" fmla="val 46875"/>
            </a:avLst>
          </a:prstGeom>
          <a:solidFill xmlns:a="http://schemas.openxmlformats.org/drawingml/2006/main">
            <a:srgbClr val="2DE0FF">
              <a:alpha val="9412"/>
            </a:srgbClr>
          </a:solidFill>
          <a:ln xmlns:a="http://schemas.openxmlformats.org/drawingml/2006/main" w="9525">
            <a:solidFill>
              <a:srgbClr val="2DE0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FA8EB-DE78-45F5-B1CD-BAF96A13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UPGRADED AI LAB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00490-18FB-4C9B-B047-97B28721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ADAPTIVE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4EC02-CBF8-4007-96F7-EFF35D65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572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PAC-MAN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4D8C9-EC73-4F29-9FBD-550C94C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AI PATHFINDING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4029D-401D-4D6F-B49F-61285736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 polished playable game and transparent search laboratory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D1677-031C-4B53-9633-97F596D1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BFS  •  DFS  •  UCS  •  Dijkstra  •  A*  •  AUTO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718DB-F437-4B53-B2E8-3CB9B0E7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Map Studio  |  Heuristic Lab  |  Replay  |  CSV + PDF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7B1FEF-C873-4908-A77A-DD3D0B0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95350"/>
            <a:ext cx="5619750" cy="3571875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9A53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1d1b3bfa14326"/>
          <a:srcRect xmlns:a="http://schemas.openxmlformats.org/drawingml/2006/main" l="35" t="0" r="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971550"/>
            <a:ext cx="5467350" cy="3419475"/>
          </a:xfrm>
          <a:prstGeom xmlns:a="http://schemas.openxmlformats.org/drawingml/2006/main" prst="roundRect">
            <a:avLst>
              <a:gd name="adj" fmla="val 2786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21AD7B-8289-486F-8962-33E3C4BF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45339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0A1230"/>
          </a:solidFill>
          <a:ln xmlns:a="http://schemas.openxmlformats.org/drawingml/2006/main" w="11430">
            <a:solidFill>
              <a:srgbClr val="2737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2ABC40-2E1B-43E2-B9F8-3CFB8181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ESTABLISHED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29202-4270-45F0-8EBD-2E4FA9E5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72075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Play a mission, inspect every search decision, build a map, compare algorithms, then export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8DF68-CFD6-49FB-9040-B9238D65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0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Python 3.10+ with Pygame CE</a:t>
            </a:r>
          </a:p>
        </p:txBody>
      </p:sp>
    </p:spTree>
    <p:extLst>
      <p:ext uri="{BB962C8B-B14F-4D97-AF65-F5344CB8AC3E}">
        <p14:creationId xmlns:p14="http://schemas.microsoft.com/office/powerpoint/2010/main" val="650028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21FCD-C2DC-4741-95C0-E6F852E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552F5-61F9-4F85-9EBD-0B14F157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C0548-95AA-4FF1-9F5A-9FCB8692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The game is a live decision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F35B1-BB5E-4B64-906C-682D5C52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66F50-971B-4DAA-8502-26C28C5C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25F8B-DDC4-4F43-A1FA-955BB42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ED5F4-0CBA-4630-9F32-DCB5EF61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76350"/>
            <a:ext cx="563880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FF4CB9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4ba18a8024c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6450" y="1352550"/>
            <a:ext cx="5486400" cy="3429000"/>
          </a:xfrm>
          <a:prstGeom xmlns:a="http://schemas.openxmlformats.org/drawingml/2006/main" prst="roundRect">
            <a:avLst>
              <a:gd name="adj" fmla="val 27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271A4-E588-4568-8072-F2C7E1C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4762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D3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91082-94C7-40A4-855A-C9727C2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2F">
              <a:alpha val="9412"/>
            </a:srgbClr>
          </a:solidFill>
          <a:ln xmlns:a="http://schemas.openxmlformats.org/drawingml/2006/main" w="9525">
            <a:solidFill>
              <a:srgbClr val="FFD3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91DEA-171D-4493-A753-D122AD9B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594AB-970D-4C54-B660-35E56CB2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04950"/>
            <a:ext cx="369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Shortest is not always safest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D4367-610C-43B6-A6FC-3C74B5B6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 low-step route can pass through expensive terrain or a ghost danger zone.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11E32-B326-4823-8D56-C2AE1270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762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4C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76143-1F4E-4320-B0CF-C740CD5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CB9">
              <a:alpha val="9412"/>
            </a:srgbClr>
          </a:solidFill>
          <a:ln xmlns:a="http://schemas.openxmlformats.org/drawingml/2006/main" w="9525">
            <a:solidFill>
              <a:srgbClr val="FF4C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4F78B-4D9B-4A0A-BBCF-73AAA8EE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193DF-1259-46E0-8C68-C18E481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369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The world changes after planning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33A79-4408-4617-9249-65730CC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Moving ghosts can invalidate a route, so the agent must detect risk and replan.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84841-C3E1-4447-A3D7-955FAB4E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4762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666AD-73FD-4355-97F1-2E5B8B73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4381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0FF">
              <a:alpha val="9412"/>
            </a:srgbClr>
          </a:solidFill>
          <a:ln xmlns:a="http://schemas.openxmlformats.org/drawingml/2006/main" w="9525">
            <a:solidFill>
              <a:srgbClr val="2D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54D1E-53B4-405E-825B-E723239F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89D28-8635-4581-846E-10D60F9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3695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One score hides the AI trade-off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59F2D-27E5-4A07-AFED-D06353DF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0075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 useful demo must expose cost, steps, explored nodes, frontier size, and timing.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ADDA1-A569-4729-AD18-5D24F3E6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095875"/>
            <a:ext cx="5486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B1730"/>
          </a:solidFill>
          <a:ln xmlns:a="http://schemas.openxmlformats.org/drawingml/2006/main" w="11430">
            <a:solidFill>
              <a:srgbClr val="47EB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7AD32-CDA4-4A92-A22C-8C3723CB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578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Goal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48B77-10AE-4D2F-9656-1AAEA666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38750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Build an agent that reaches the exit safely and explainably while allowing fair, repeatable algorithm comparison.</a:t>
            </a:r>
          </a:p>
        </p:txBody>
      </p:sp>
    </p:spTree>
    <p:extLst>
      <p:ext uri="{BB962C8B-B14F-4D97-AF65-F5344CB8AC3E}">
        <p14:creationId xmlns:p14="http://schemas.microsoft.com/office/powerpoint/2010/main" val="1555336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F8ADB2-6238-4292-921F-11D71149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71A4-21D0-44BD-8C2F-3AA92FFE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8EFEE-2F55-4F35-8D9E-36A648CB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Observe, search, move, and replan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55F0B-6D43-4B60-BB0A-6ED70A49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Core AI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6A2CD-BC11-42FD-9F5A-D66CF9B7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17245-B848-4097-8A23-5758DE8E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542F7-893F-405B-9B0A-CC2D9232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1924050" cy="22669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05311-CB80-408A-B1F9-9C4D0518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6BA49-086A-40F8-A0FF-AD84C4B6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03A0C-808D-4B9F-A00D-5F2811C1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F4C59-7BD1-452D-BD1D-8D8BE558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543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Read Pac-Man, pellets, terrain, exit, and ghost positions.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603A7-D00B-4421-8A81-AA306A55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6384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C50F7-7683-4E0B-B9CB-D8EF962E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1924050" cy="22669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8B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5F2B1-D243-4653-BAA1-E9381F79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DB7EF-963B-49EE-BC4B-CDA388A4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14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5274A-BE09-44E8-ADE6-A5AB1F2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669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MODEL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D74CA-898B-4210-8485-3F0BEB8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95600"/>
            <a:ext cx="1543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Combine terrain weight with distance-based ghost danger.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E7E55-F84F-4BAE-AFB7-AB49F4B7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6384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93805-6028-4D2D-9B62-BB8E5B9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33550"/>
            <a:ext cx="1924050" cy="22669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9A5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07B43-50D7-49E3-A57C-A3C6F5D4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ADF34-C0FC-4418-8AB0-8AF8E3A2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92BC54-1B40-4712-92E7-9B0B7123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669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SELECT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B396B-7AF6-4462-AABA-9179C07A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95600"/>
            <a:ext cx="1543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Use the chosen solver or let AUTO select 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A89A9-C544-4B85-AD31-8E179EEB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384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439A8-3B1E-4863-892A-77285514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33550"/>
            <a:ext cx="1924050" cy="22669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47EB9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04BFA-9042-4E84-BF4C-E7B0F9CE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C4F95-C524-498D-94E3-22BE9A7F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14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63AA20-7CD9-4D7B-8B88-FA1539E5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669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69E92-FC0B-48AC-8529-DB189D78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1543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Generate route, cost, explored order, and metrics.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44284A-676B-483F-B31C-C95D237C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3842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57586E-4F21-4615-B278-2ECDF8D7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33550"/>
            <a:ext cx="1924050" cy="2266950"/>
          </a:xfrm>
          <a:prstGeom xmlns:a="http://schemas.openxmlformats.org/drawingml/2006/main" prst="roundRect">
            <a:avLst>
              <a:gd name="adj" fmla="val 6931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4CB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6D6E2F-9854-4C15-820C-A3DD6F94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75D927-65F4-4295-8F2B-ACF548CB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145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C1F0EB-995C-4488-98F5-A6EE7D2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66975"/>
            <a:ext cx="1581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3960F-562E-4C6B-85DC-4FDB652C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1543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Move one cell, collect, detect change, and repeat.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6810BA-B44F-4DCC-9A98-EE143B5E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48200"/>
            <a:ext cx="76581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091A29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8E2ACC-557A-4258-8CC3-0F80301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482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REACTIVE LOOP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55A36F-5414-4591-A71F-1E7E1E57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81600"/>
            <a:ext cx="701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75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 ghost movement, blocked route, or collected target triggers a fresh search. The plan is never treated as permanently valid.</a:t>
            </a:r>
          </a:p>
        </p:txBody>
      </p:sp>
    </p:spTree>
    <p:extLst>
      <p:ext uri="{BB962C8B-B14F-4D97-AF65-F5344CB8AC3E}">
        <p14:creationId xmlns:p14="http://schemas.microsoft.com/office/powerpoint/2010/main" val="1293242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B502E-8692-4466-BD79-C02F47E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32AD2-86E3-49A0-8B77-6CE2B38A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1189B-21F7-4AB6-8020-3B37BE5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One application, two complementary experiences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23F7A-6D45-46C8-8E4D-9385925F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Playable game plus AI Workbench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BB4BF-C958-4C09-9C4A-6D79284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C178E-01EA-474F-8C14-34C49F86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B6B29-3E09-4AA9-8E9E-D64988AA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6896100" cy="4371975"/>
          </a:xfrm>
          <a:prstGeom xmlns:a="http://schemas.openxmlformats.org/drawingml/2006/main" prst="roundRect">
            <a:avLst>
              <a:gd name="adj" fmla="val 3486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2DE0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0f89d4e9e45e3"/>
          <a:srcRect xmlns:a="http://schemas.openxmlformats.org/drawingml/2006/main" l="56" t="0" r="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362075"/>
            <a:ext cx="6743700" cy="4219575"/>
          </a:xfrm>
          <a:prstGeom xmlns:a="http://schemas.openxmlformats.org/drawingml/2006/main" prst="roundRect">
            <a:avLst>
              <a:gd name="adj" fmla="val 225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F2EF7-ED8F-4009-8061-6AD3B117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9065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2F">
              <a:alpha val="9412"/>
            </a:srgbClr>
          </a:solidFill>
          <a:ln xmlns:a="http://schemas.openxmlformats.org/drawingml/2006/main" w="9525">
            <a:solidFill>
              <a:srgbClr val="FFD3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96ACD-AB7C-407F-B99E-CD2E0B30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906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PLAY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65347-6491-41F3-BB04-993DA0BD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38325"/>
            <a:ext cx="37909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Animated Pac-Man, pellets, power mode, lives, score, and mission exit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Aggressive, predictive, random, and defensive ghost behaviors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Route animation, explored cells, frontier, and risk heatmap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17F4D-7A17-4AA5-969E-BFB69446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409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CB9">
              <a:alpha val="9412"/>
            </a:srgbClr>
          </a:solidFill>
          <a:ln xmlns:a="http://schemas.openxmlformats.org/drawingml/2006/main" w="9525">
            <a:solidFill>
              <a:srgbClr val="FF4CB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2A7CB-4D7A-4843-A363-91BB09C8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AI WORKBENCH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9D114-D74D-4A26-BA3A-B2C0FEA3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71950"/>
            <a:ext cx="3790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BFS, DFS, UCS, Dijkstra, A*, and adaptive AUTO selection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Heuristic comparison and five-scenario experiment runner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Explanation, replay, CSV, JSON, and polished PDF export</a:t>
            </a:r>
          </a:p>
        </p:txBody>
      </p:sp>
    </p:spTree>
    <p:extLst>
      <p:ext uri="{BB962C8B-B14F-4D97-AF65-F5344CB8AC3E}">
        <p14:creationId xmlns:p14="http://schemas.microsoft.com/office/powerpoint/2010/main" val="755416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9C7E4-7E94-43C8-80AA-BC0907F4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FD157-5BE9-4B9D-AE6B-1EF4B75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11C63-C6E6-45DC-9A5B-062B94E3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The same grid supports different definitions of better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93F36-7F3B-465D-8374-D5DBAA83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Cost model and fair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46EF2-EA43-440C-BD0F-A57F6C0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52EA1-B25B-4B36-8BC3-72FD34C2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0B1F4-38D1-4E97-AE7F-00A3337E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Movement cost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2CA84-FC8A-4329-B357-A8CE02BB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4533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step cost = terrain cost + ghost danger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90550" y="2200275"/>
          <a:ext xmlns:a="http://schemas.openxmlformats.org/drawingml/2006/main" cx="4953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2038350"/>
                <a:gridCol w="1714500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</a:t>
                      </a:r>
                    </a:p>
                  </a:txBody>
                  <a:tcPr marL="85725" marR="85725" marT="57150" marB="57150" anchor="ctr">
                    <a:solidFill>
                      <a:srgbClr val="3A22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Purpose</a:t>
                      </a:r>
                    </a:p>
                  </a:txBody>
                  <a:tcPr marL="85725" marR="85725" marT="57150" marB="57150" anchor="ctr">
                    <a:solidFill>
                      <a:srgbClr val="3A221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Typical effect</a:t>
                      </a:r>
                    </a:p>
                  </a:txBody>
                  <a:tcPr marL="85725" marR="85725" marT="57150" marB="57150" anchor="ctr">
                    <a:solidFill>
                      <a:srgbClr val="3A221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Terrain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Weighted floor cells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 1, 2, or 3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Ghost distance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Dynamic safety penalty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Higher near ghosts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Walls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Movement constraint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Node is unavailable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Pellet or exit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Ends current search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F60472-DA93-4765-9FAD-2D863584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53025"/>
            <a:ext cx="495300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11142B"/>
          </a:solidFill>
          <a:ln xmlns:a="http://schemas.openxmlformats.org/drawingml/2006/main" w="11430">
            <a:solidFill>
              <a:srgbClr val="FF4C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4BADC-A1B1-488C-82BA-512DBA2A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Fair snapshot rule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E394A-9793-4F95-A147-9D9F7EA7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125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Every solver receives the same start, target, walls, terrain, and ghost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1B438-C675-4D08-969E-4FB3B765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314450"/>
            <a:ext cx="5495925" cy="3495675"/>
          </a:xfrm>
          <a:prstGeom xmlns:a="http://schemas.openxmlformats.org/drawingml/2006/main" prst="roundRect">
            <a:avLst>
              <a:gd name="adj" fmla="val 4360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FF8B30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672884fe24da6"/>
          <a:srcRect xmlns:a="http://schemas.openxmlformats.org/drawingml/2006/main" l="53" t="0" r="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9325" y="1390650"/>
            <a:ext cx="5343525" cy="3343275"/>
          </a:xfrm>
          <a:prstGeom xmlns:a="http://schemas.openxmlformats.org/drawingml/2006/main" prst="roundRect">
            <a:avLst>
              <a:gd name="adj" fmla="val 2849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FBB59-368E-4F2F-A21D-A7100B7F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95875"/>
            <a:ext cx="49815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The dashboard compares route steps, weighted cost, explored nodes, frontier peak, and search time without changing the problem between runs.</a:t>
            </a:r>
          </a:p>
        </p:txBody>
      </p:sp>
    </p:spTree>
    <p:extLst>
      <p:ext uri="{BB962C8B-B14F-4D97-AF65-F5344CB8AC3E}">
        <p14:creationId xmlns:p14="http://schemas.microsoft.com/office/powerpoint/2010/main" val="1372832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9A309-CD7A-43FF-A878-D56B5BFE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B0BEA-BA81-4931-99E3-E8CED8C7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D22AE-790F-4EAE-AAC5-B66ECA7C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Five algorithms plus an adaptive mode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FAA9F-40AD-40A8-B9E8-E338AA4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Algorithm portfolio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F85CDE-DF2D-4654-BB3B-D459B064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28444-E645-4932-84E1-3F351836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1390650"/>
          <a:ext xmlns:a="http://schemas.openxmlformats.org/drawingml/2006/main" cx="11010900" cy="3962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85875"/>
                <a:gridCol w="1809750"/>
                <a:gridCol w="1504950"/>
                <a:gridCol w="2247900"/>
                <a:gridCol w="4162425"/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</a:t>
                      </a:r>
                    </a:p>
                  </a:txBody>
                  <a:tcPr marL="85725" marR="85725" marT="57150" marB="57150" anchor="ctr">
                    <a:solidFill>
                      <a:srgbClr val="3A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Frontier</a:t>
                      </a:r>
                    </a:p>
                  </a:txBody>
                  <a:tcPr marL="85725" marR="85725" marT="57150" marB="57150" anchor="ctr">
                    <a:solidFill>
                      <a:srgbClr val="3A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Uses weights</a:t>
                      </a:r>
                    </a:p>
                  </a:txBody>
                  <a:tcPr marL="85725" marR="85725" marT="57150" marB="57150" anchor="ctr">
                    <a:solidFill>
                      <a:srgbClr val="3A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Guarantee</a:t>
                      </a:r>
                    </a:p>
                  </a:txBody>
                  <a:tcPr marL="85725" marR="85725" marT="57150" marB="57150" anchor="ctr">
                    <a:solidFill>
                      <a:srgbClr val="3A12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teaching point</a:t>
                      </a:r>
                    </a:p>
                  </a:txBody>
                  <a:tcPr marL="85725" marR="85725" marT="57150" marB="57150" anchor="ctr">
                    <a:solidFill>
                      <a:srgbClr val="3A1235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Queue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Fewest steps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Unweighted shortest path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7EB9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DFS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Stack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Finds a path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Fast exploration can be non-optimal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9A53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Min-heap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cost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Accumulated path cost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Dijkstra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Min-heap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cost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Classic shortest-distance search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A*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Min-heap + 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Optimal with admissible 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Goal-directed informed search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D32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Rule-based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Context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Chooses a solver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Adapts to weights and board size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96F22-1F92-4E50-8956-E5F7FB9E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8763000" cy="542925"/>
          </a:xfrm>
          <a:prstGeom xmlns:a="http://schemas.openxmlformats.org/drawingml/2006/main" prst="roundRect">
            <a:avLst>
              <a:gd name="adj" fmla="val 24561"/>
            </a:avLst>
          </a:prstGeom>
          <a:solidFill xmlns:a="http://schemas.openxmlformats.org/drawingml/2006/main">
            <a:srgbClr val="0A15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5EE9D-19B7-4B49-B003-01BA479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7215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UCS and Dijkstra usually match here because the grid has non-negative costs, one start, and one target. Separate implementations support syllabus comparison.</a:t>
            </a:r>
          </a:p>
        </p:txBody>
      </p:sp>
    </p:spTree>
    <p:extLst>
      <p:ext uri="{BB962C8B-B14F-4D97-AF65-F5344CB8AC3E}">
        <p14:creationId xmlns:p14="http://schemas.microsoft.com/office/powerpoint/2010/main" val="325849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502F31-4E80-4534-BBC7-A0F08059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968EB-8DA7-45AF-8EFF-880657BC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09E9B-3992-488D-B672-0245FBD1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A* can trade exploration for speed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7B529-CF3E-4D2A-AB8C-D267A467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Heuristic laboratory using five repeatable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3168C-5E23-4069-9679-E5BFD313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8759E-9D8D-430C-80DF-05483D24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76446c8daf422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37CA0-0C26-4AC4-B95E-9FF70958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95425"/>
            <a:ext cx="33528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72C92-2370-46B3-AED5-55E04DAC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MANHATTAN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C1F48-7CCC-47AE-A012-18FF094F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97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12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Grid-aware and admissible for four-direction movement.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960AF-1204-4D56-BC8F-8523D1E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28925"/>
            <a:ext cx="33528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9A5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2540F-DA85-46F6-BD07-7CC04E5C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EUCLIDEAN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81748-D830-41C2-91A5-E2409FF6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43275"/>
            <a:ext cx="285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12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Straight-line estimate. It remains admissible but is less grid-specific.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51E04-8556-4631-AF25-664DA3A7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62425"/>
            <a:ext cx="3352800" cy="1247775"/>
          </a:xfrm>
          <a:prstGeom xmlns:a="http://schemas.openxmlformats.org/drawingml/2006/main" prst="roundRect">
            <a:avLst>
              <a:gd name="adj" fmla="val 10687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D3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DF489-FB3C-4701-AE54-D469991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WEIGHTED A*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8B71F-AA88-48B6-A12C-3096A8E8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76775"/>
            <a:ext cx="285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12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Uses 1.65 × Manhattan. It explored fewer nodes in this sample, but optimality is not guaranteed.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322CA-D944-4C21-8E26-CCC26CF1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Sample means are generated by the included deterministic experiment runner.</a:t>
            </a:r>
          </a:p>
        </p:txBody>
      </p:sp>
    </p:spTree>
    <p:extLst>
      <p:ext uri="{BB962C8B-B14F-4D97-AF65-F5344CB8AC3E}">
        <p14:creationId xmlns:p14="http://schemas.microsoft.com/office/powerpoint/2010/main" val="882291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319D5F-8329-40FD-AA4F-A4A55F32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83042-0045-4A05-A2AF-2E74706F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973BC-F0A8-4BEC-AD2E-D2CD3FAA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Modular architecture keeps the AI testable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778E6-098A-47C6-96EA-34B14B5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Upgraded project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C4827-9163-4BE3-804C-0ED77B65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58C34-D7A0-4696-BA2A-111DF8D9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69756-3E34-4615-ABDF-1C0DABF1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91059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38C59-B7A1-4CEF-ADD9-6306024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F18A64-61DD-48DD-9532-1EF0635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144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EXPERIENCE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50852-EC2A-4599-83F8-8BD82FE0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95425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Pygame UI  •  game scenes  •  Map Studio  •  modals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8796F-6879-4D8A-A3B9-64ECE76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4785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app.py  |  ui.py  |  editor.py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CF3A5-D37D-462A-8286-D550A12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81225"/>
            <a:ext cx="3810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209AD-C694-46B0-836C-9B900102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28875"/>
            <a:ext cx="91059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4CB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2A7A9-F1A5-4D68-856C-23915BC7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288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D8D8E-30F1-4D60-813A-AE632986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622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SESSION AND DECISION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CBDAE-23E2-4D82-8450-A2D06C78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game state  •  AUTO choice  •  ghost policy  •  replanning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EFA605-06E4-47FE-94BF-E3608A5A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956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session.py  |  planner.py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784BD-AE2D-4D72-AED8-B0F58908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28975"/>
            <a:ext cx="3810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59587-C37E-4950-A27B-4CDA736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76625"/>
            <a:ext cx="91059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9A5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33332-B1CA-4489-B8E3-59F2C0E7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7662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71B6E-7269-4EF3-A65E-EC59A320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0997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SEARCH AND DOMAIN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F4926-A529-4BAF-B91B-C720E418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90925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BFS  •  DFS  •  UCS  •  Dijkstra  •  A*  •  weighted grid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11CA8E-0B8F-49D5-841E-E7F1831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4335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algorithms.py  |  maze.py  |  models.py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0D4B3-2EB1-4003-B5FE-A7A5CF67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76725"/>
            <a:ext cx="381000" cy="209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FD506-DB63-4332-A71C-E0146F4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24375"/>
            <a:ext cx="91059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8B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6D46E-1A65-4037-A84C-FA8E8731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24375"/>
            <a:ext cx="9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5F649-E4D1-48FD-98AB-811532E7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577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EVIDENCE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CFD27B-B25F-4FA4-89E4-D9436B07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38675"/>
            <a:ext cx="575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experiments  •  explanation  •  replay  •  CSV/PDF/JSON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86EF5A-2524-40EF-9167-E078E488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847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experiments.py  |  explain.py  |  replay.py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C3A1A-112E-48D3-B4D8-3EFDB70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715000"/>
            <a:ext cx="64389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0A1929"/>
          </a:solidFill>
          <a:ln xmlns:a="http://schemas.openxmlformats.org/drawingml/2006/main" w="11430">
            <a:solidFill>
              <a:srgbClr val="47EB9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0F4EB1-3CD5-4A55-8B16-0ED93E60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848350"/>
            <a:ext cx="598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Pure search logic remains independent from rendering, so 19 automated tests run without opening the game window.</a:t>
            </a:r>
          </a:p>
        </p:txBody>
      </p:sp>
    </p:spTree>
    <p:extLst>
      <p:ext uri="{BB962C8B-B14F-4D97-AF65-F5344CB8AC3E}">
        <p14:creationId xmlns:p14="http://schemas.microsoft.com/office/powerpoint/2010/main" val="1614444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662F15-C33F-47BB-A1DA-18252903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821E6D-B9A2-423E-89EF-672220FB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CF5C6-8464-48D7-8076-2C3AEE36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Create, explain, and replay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94E83-2448-4097-AAD8-9781EF37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Features added to make the project demonstrable and reusable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38749-C054-46B2-A55E-DA4ECD4E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63A71-5A79-4646-8AE2-92312877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48EE9-54D0-4DE4-9349-537B4A57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34099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FFD32F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24ec14462418f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28750"/>
            <a:ext cx="3257550" cy="2038350"/>
          </a:xfrm>
          <a:prstGeom xmlns:a="http://schemas.openxmlformats.org/drawingml/2006/main" prst="roundRect">
            <a:avLst>
              <a:gd name="adj" fmla="val 467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0D414-3109-4CE9-BA7F-3EF6977F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MAP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25074-E494-4C3A-BD84-A3F1CC8A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Paint walls, weighted terrain, start, exit, pellets, power items, and ghosts. Validation protects existing maps.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F4A36-6A94-4EF9-9A51-2C2E667E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52550"/>
            <a:ext cx="34099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2DE0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e77065bf4466a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1428750"/>
            <a:ext cx="3257550" cy="2038350"/>
          </a:xfrm>
          <a:prstGeom xmlns:a="http://schemas.openxmlformats.org/drawingml/2006/main" prst="roundRect">
            <a:avLst>
              <a:gd name="adj" fmla="val 46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5ECF6-5354-4BF8-9BA8-D671038A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EXPLAIN THIS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19609-5620-4F94-A416-4CDFCC8E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4337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Shows the frontier, expansion rule, optimality guarantee, route rationale, and evidence from the current search.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122FF-7884-444B-B6E0-E23A2C7D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52550"/>
            <a:ext cx="34099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FF4CB9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70934ab4e4ec0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1428750"/>
            <a:ext cx="3257550" cy="2038350"/>
          </a:xfrm>
          <a:prstGeom xmlns:a="http://schemas.openxmlformats.org/drawingml/2006/main" prst="roundRect">
            <a:avLst>
              <a:gd name="adj" fmla="val 467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7EB990-D639-4B10-998C-5BBF3F7A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62375"/>
            <a:ext cx="3257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MISSION 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4BC7B2-C143-4873-82F3-A02FA12E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Records bounded logical frames and exports portable JSON for review, debugging, and presentation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6F27E-A567-47A0-B05B-19F5844E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10200"/>
            <a:ext cx="78867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11142B"/>
          </a:solidFill>
          <a:ln xmlns:a="http://schemas.openxmlformats.org/drawingml/2006/main" w="11430">
            <a:solidFill>
              <a:srgbClr val="FFD3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8FC713-2E8B-467F-BC45-88A2F474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00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CREATE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9B2DD-A94A-4BC6-989B-A7023D3C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6292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AFD46-3D82-48FF-93EA-EB813241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600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UNDERSTAND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5E5BE-6D5A-4229-BCA6-11A58000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29275"/>
            <a:ext cx="476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416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50431-1BEA-4377-BA5C-E8925AD2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00700"/>
            <a:ext cx="1162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9EAE9-54B0-475A-A90E-856DD29A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19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your own scenario</a:t>
            </a:r>
          </a:p>
        </p:txBody>
      </p:sp>
    </p:spTree>
    <p:extLst>
      <p:ext uri="{BB962C8B-B14F-4D97-AF65-F5344CB8AC3E}">
        <p14:creationId xmlns:p14="http://schemas.microsoft.com/office/powerpoint/2010/main" val="4259182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01E9B-B929-4CE0-AC8A-9FA3C91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ACD07-401A-4F97-B095-8CEBC5C9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344DD-87C0-4FC6-AB28-AC3AE709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Three-week implementation and ownership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814A1-155F-4182-9D4D-E7B32371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Neutral role-based 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EC323-2756-40CC-904E-83944839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913F2-D453-4D90-B88C-29FE339B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590550" y="1438275"/>
          <a:ext xmlns:a="http://schemas.openxmlformats.org/drawingml/2006/main" cx="110109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0600"/>
                <a:gridCol w="2743200"/>
                <a:gridCol w="3467100"/>
                <a:gridCol w="3810000"/>
              </a:tblGrid>
              <a:tr h="4000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</a:t>
                      </a:r>
                    </a:p>
                  </a:txBody>
                  <a:tcPr marL="85725" marR="85725" marT="57150" marB="57150" anchor="ctr"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Focus</a:t>
                      </a:r>
                    </a:p>
                  </a:txBody>
                  <a:tcPr marL="85725" marR="85725" marT="57150" marB="57150" anchor="ctr"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Milestone</a:t>
                      </a:r>
                    </a:p>
                  </a:txBody>
                  <a:tcPr marL="85725" marR="85725" marT="57150" marB="57150" anchor="ctr">
                    <a:solidFill>
                      <a:srgbClr val="1230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85725" marR="85725" marT="57150" marB="57150" anchor="ctr">
                    <a:solidFill>
                      <a:srgbClr val="12304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Search foundation and maps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 five solvers produce valid routes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Unit tests and baseline maze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Game integration and UI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Playable mission with live replanning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Gameplay and comparison screen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Advanced lab and validation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 Studio, replay, reports, final QA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19 tests, screenshots, CSV, PDF, JSON</a:t>
                      </a:r>
                    </a:p>
                  </a:txBody>
                  <a:tcPr marL="85725" marR="85725" marT="57150" marB="57150" anchor="ctr">
                    <a:solidFill>
                      <a:srgbClr val="0D14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48990-F6A0-4526-B73B-51255F97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33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Role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1477E-7E30-4871-A429-D1638C99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2476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F8423-61E4-48B5-AC1D-9E78A114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INTEGRATION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9E1F3-1BC3-449C-A259-7F4F3F51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Architecture, final build, demo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CC8AA-F804-4115-9E60-E71B36D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2476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9A5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E4DEA-1291-44E1-88FF-377CEE39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86350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SEARCH 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B02AE-2392-4C82-B0B9-A266926F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29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Algorithms, heuristics,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A34AA-791E-4890-9809-73C127B1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14900"/>
            <a:ext cx="24765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4C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0FA29-A6A0-4A7A-881C-66EDDEB1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86350"/>
            <a:ext cx="2171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INTERFACE LEAD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360885-947D-47D3-9627-9C7474E3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429250"/>
            <a:ext cx="217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Game UI, Map Studio, readability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BA119-4170-4AC9-92A7-3B4A67F1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30099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D1430"/>
          </a:solidFill>
          <a:ln xmlns:a="http://schemas.openxmlformats.org/drawingml/2006/main" w="11430">
            <a:solidFill>
              <a:srgbClr val="FF8B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C1BD1-B41C-43C0-A7E6-21EFBCEF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86350"/>
            <a:ext cx="2705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QUALITY LEAD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773C0-AE7F-4C03-8F85-35AD6E99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2925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Experiments, exports, docs, rehearsal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455908-E201-4D90-AA24-DFC8F7A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115050"/>
            <a:ext cx="895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Shared familiarity rule: every contributor can explain one solver, the cost model, their module, and one verified result.</a:t>
            </a:r>
          </a:p>
        </p:txBody>
      </p:sp>
    </p:spTree>
    <p:extLst>
      <p:ext uri="{BB962C8B-B14F-4D97-AF65-F5344CB8AC3E}">
        <p14:creationId xmlns:p14="http://schemas.microsoft.com/office/powerpoint/2010/main" val="845178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300C4-4C87-42B9-B454-A26523C8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9914C-88D8-40F6-BA48-30AF823C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8874C-5CD2-462F-911D-32FABEF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 complete game that produces its own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4B9D7-4832-4D79-B832-1F878486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62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Verified project outcome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9A245-00E9-4341-8A4E-351297EF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76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5CFD9-49B6-46AA-8C49-2AD7E548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B27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AEC05-277A-4699-A383-26539E9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6343650" cy="4019550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47EB98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00fcda8dc41d8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390650"/>
            <a:ext cx="6191250" cy="3867150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41A50-810E-4B4F-ADD4-3E14070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90650"/>
            <a:ext cx="19431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A1929"/>
          </a:solidFill>
          <a:ln xmlns:a="http://schemas.openxmlformats.org/drawingml/2006/main" w="11430">
            <a:solidFill>
              <a:srgbClr val="47EB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C5DD9-A176-4C2F-A274-943DAD9A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62100"/>
            <a:ext cx="171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746BA-0723-4343-AAF8-8588E55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288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automated tests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DA78-EE9E-48E7-A329-FAE01D6E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390650"/>
            <a:ext cx="201930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14132A"/>
          </a:solidFill>
          <a:ln xmlns:a="http://schemas.openxmlformats.org/drawingml/2006/main" w="11430">
            <a:solidFill>
              <a:srgbClr val="9A53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7CC75-5B6B-48A4-8034-76841AA4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81150"/>
            <a:ext cx="1790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6 MODES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2B345-A71C-47C5-A594-810337FF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28825"/>
            <a:ext cx="1790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975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five solvers plus AUTO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7B2CE-59C4-4ED0-815E-9FFE1EAE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57475"/>
            <a:ext cx="4191000" cy="1038225"/>
          </a:xfrm>
          <a:prstGeom xmlns:a="http://schemas.openxmlformats.org/drawingml/2006/main" prst="roundRect">
            <a:avLst>
              <a:gd name="adj" fmla="val 12844"/>
            </a:avLst>
          </a:prstGeom>
          <a:solidFill xmlns:a="http://schemas.openxmlformats.org/drawingml/2006/main">
            <a:srgbClr val="211B0C"/>
          </a:solidFill>
          <a:ln xmlns:a="http://schemas.openxmlformats.org/drawingml/2006/main" w="11430">
            <a:solidFill>
              <a:srgbClr val="FFD3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F44BA-26F1-40BB-B673-CBB5B64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575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CSV  •  PDF  • 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1F167-57B3-472C-9A84-A75C899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670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05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experiment metrics, report, and mission replay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42A07-77EA-4DD1-A548-B4967CA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43350"/>
            <a:ext cx="4343400" cy="2771775"/>
          </a:xfrm>
          <a:prstGeom xmlns:a="http://schemas.openxmlformats.org/drawingml/2006/main" prst="roundRect">
            <a:avLst>
              <a:gd name="adj" fmla="val 5498"/>
            </a:avLst>
          </a:prstGeom>
          <a:solidFill xmlns:a="http://schemas.openxmlformats.org/drawingml/2006/main">
            <a:srgbClr val="111A3B"/>
          </a:solidFill>
          <a:ln xmlns:a="http://schemas.openxmlformats.org/drawingml/2006/main" w="14288">
            <a:solidFill>
              <a:srgbClr val="FFD32F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2afa0fac24c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4019550"/>
            <a:ext cx="4191000" cy="26193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961E76-D980-4EA5-B171-6611B8D5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6191250" cy="790575"/>
          </a:xfrm>
          <a:prstGeom xmlns:a="http://schemas.openxmlformats.org/drawingml/2006/main" prst="roundRect">
            <a:avLst>
              <a:gd name="adj" fmla="val 16867"/>
            </a:avLst>
          </a:prstGeom>
          <a:solidFill xmlns:a="http://schemas.openxmlformats.org/drawingml/2006/main">
            <a:srgbClr val="0B1730"/>
          </a:solidFill>
          <a:ln xmlns:a="http://schemas.openxmlformats.org/drawingml/2006/main" w="11430">
            <a:solidFill>
              <a:srgbClr val="2DE0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02E1C8-956A-4794-AACC-DC58732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2452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DELIVERY 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EB1FC-13C5-45D3-84AF-120AA948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769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125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125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Source, maps, tests, documentation, screenshots, sample exports, and this editable presentation are included in one clean archive.</a:t>
            </a:r>
          </a:p>
        </p:txBody>
      </p:sp>
    </p:spTree>
    <p:extLst>
      <p:ext uri="{BB962C8B-B14F-4D97-AF65-F5344CB8AC3E}">
        <p14:creationId xmlns:p14="http://schemas.microsoft.com/office/powerpoint/2010/main" val="537100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2026-09-17T14:08:46.1280000Z</dcterms:created>
  <dcterms:modified xsi:type="dcterms:W3CDTF">2026-09-17T14:08:46.1280000Z</dcterms:modified>
</coreProperties>
</file>